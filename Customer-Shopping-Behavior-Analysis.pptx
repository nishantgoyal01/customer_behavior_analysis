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60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Calibri" panose="020F0502020204030204" pitchFamily="34" charset="0"/>
      <p:regular r:id="rId13"/>
      <p:bold r:id="rId14"/>
      <p:italic r:id="rId15"/>
      <p:boldItalic r:id="rId16"/>
    </p:embeddedFont>
    <p:embeddedFont>
      <p:font typeface="Calibri Light" panose="020F0302020204030204" pitchFamily="34" charset="0"/>
      <p:regular r:id="rId17"/>
      <p:italic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0" d="100"/>
          <a:sy n="60" d="100"/>
        </p:scale>
        <p:origin x="66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476032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8B77A7-160E-428E-8E33-6B391A6251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8800" y="1346836"/>
            <a:ext cx="10972800" cy="2865120"/>
          </a:xfrm>
        </p:spPr>
        <p:txBody>
          <a:bodyPr anchor="b"/>
          <a:lstStyle>
            <a:lvl1pPr algn="ctr">
              <a:defRPr sz="7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55B211-7EC1-4EE2-920B-AEAB7E979D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4322446"/>
            <a:ext cx="10972800" cy="1986914"/>
          </a:xfrm>
        </p:spPr>
        <p:txBody>
          <a:bodyPr/>
          <a:lstStyle>
            <a:lvl1pPr marL="0" indent="0" algn="ctr">
              <a:buNone/>
              <a:defRPr sz="2880"/>
            </a:lvl1pPr>
            <a:lvl2pPr marL="548640" indent="0" algn="ctr">
              <a:buNone/>
              <a:defRPr sz="2400"/>
            </a:lvl2pPr>
            <a:lvl3pPr marL="1097280" indent="0" algn="ctr">
              <a:buNone/>
              <a:defRPr sz="2160"/>
            </a:lvl3pPr>
            <a:lvl4pPr marL="1645920" indent="0" algn="ctr">
              <a:buNone/>
              <a:defRPr sz="1920"/>
            </a:lvl4pPr>
            <a:lvl5pPr marL="2194560" indent="0" algn="ctr">
              <a:buNone/>
              <a:defRPr sz="1920"/>
            </a:lvl5pPr>
            <a:lvl6pPr marL="2743200" indent="0" algn="ctr">
              <a:buNone/>
              <a:defRPr sz="1920"/>
            </a:lvl6pPr>
            <a:lvl7pPr marL="3291840" indent="0" algn="ctr">
              <a:buNone/>
              <a:defRPr sz="1920"/>
            </a:lvl7pPr>
            <a:lvl8pPr marL="3840480" indent="0" algn="ctr">
              <a:buNone/>
              <a:defRPr sz="1920"/>
            </a:lvl8pPr>
            <a:lvl9pPr marL="4389120" indent="0" algn="ctr">
              <a:buNone/>
              <a:defRPr sz="192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7245A1-6D4D-4675-93EE-9C38CB1ED1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C0DF8-4567-4238-9D14-5C22DD15076B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C2B0DD-B62A-4F02-8897-BD49B09C8E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E1F053-FBB3-42BE-AE96-844DC01AEB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AA0F09-48DB-4226-82BF-1675091161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2675529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6969C1-89C7-4474-89A3-19F6F1CC6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4C3ACB-7670-4656-8689-CE4974474E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7AAB1B-6A10-4D1A-9D34-BDB3D7373E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C0DF8-4567-4238-9D14-5C22DD15076B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108CC1-FD3D-4434-A9BF-8EEEC0012F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741F40-3C37-4449-BE7C-20AED18B0C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AA0F09-48DB-4226-82BF-1675091161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4507476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6850A4-9AED-4671-8752-4C01DB062E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8220" y="2051686"/>
            <a:ext cx="12618720" cy="3423284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DFEAD8-5A72-46D2-86A9-291419AA28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98220" y="5507356"/>
            <a:ext cx="12618720" cy="1800224"/>
          </a:xfrm>
        </p:spPr>
        <p:txBody>
          <a:bodyPr/>
          <a:lstStyle>
            <a:lvl1pPr marL="0" indent="0">
              <a:buNone/>
              <a:defRPr sz="2880">
                <a:solidFill>
                  <a:schemeClr val="tx1">
                    <a:tint val="75000"/>
                  </a:schemeClr>
                </a:solidFill>
              </a:defRPr>
            </a:lvl1pPr>
            <a:lvl2pPr marL="54864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978B54-AD13-43A9-9C0B-2CD9EC1A2A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C0DF8-4567-4238-9D14-5C22DD15076B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9F16F9-5156-42F0-ACC1-29EEFD496B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A0F364-40D7-4E36-85BD-21F0B4EEF2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AA0F09-48DB-4226-82BF-1675091161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3865984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84C1E6-79D5-4D19-A5C9-0E324A4933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023EB0-0461-419D-B263-5967940281F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05840" y="2190750"/>
            <a:ext cx="6217920" cy="52216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5B0F85-6F61-4A40-A0C4-3BF9ED74E5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406640" y="2190750"/>
            <a:ext cx="6217920" cy="52216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CAE08D-A632-4400-8121-85ED0DA6F6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C0DF8-4567-4238-9D14-5C22DD15076B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C903B1-3643-4204-8D6E-51AE8C2AC7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2AE6BD-6AC2-4D09-B2D2-80E0CF89D1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AA0F09-48DB-4226-82BF-1675091161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6080234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30DC80-C994-4862-9D7B-F92873FE91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746" y="438150"/>
            <a:ext cx="12618720" cy="159067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C896F1-15D7-4C38-83BC-3B7E4B002C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07746" y="2017396"/>
            <a:ext cx="6189344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F7549D-EE8B-4CD1-988F-65D70C4781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07746" y="3006090"/>
            <a:ext cx="6189344" cy="44215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C42F891-4F53-4BB6-876E-0C0F8A1612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406640" y="2017396"/>
            <a:ext cx="6219826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87814F1-7095-4493-960E-A86BFD8993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406640" y="3006090"/>
            <a:ext cx="6219826" cy="44215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C20F928-1F1A-49B3-BB5A-86C42383C0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C0DF8-4567-4238-9D14-5C22DD15076B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126EBAE-8CFA-4350-8E46-D429ED341B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C70D703-41D9-410B-B003-010CB105FC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AA0F09-48DB-4226-82BF-1675091161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0151940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810B25-1444-4396-920A-2E4730DC90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71E8A65-06C2-4B69-9B34-FD6210544C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C0DF8-4567-4238-9D14-5C22DD15076B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0090BB6-38BB-4A9A-BDE4-7F9EAE5324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17C87B-DD05-49F9-AC6E-CD09F6196E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AA0F09-48DB-4226-82BF-1675091161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6502944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3251CA1-F7AA-4F12-9C19-F15AAE6A47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C0DF8-4567-4238-9D14-5C22DD15076B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82421D9-F714-4B8C-9F07-2659B9F743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58290E-E999-49D6-A8C6-35AB712E82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AA0F09-48DB-4226-82BF-1675091161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870538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4136AA-9B93-4147-8867-C45A512CBE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5B034C-E74B-47FC-B106-CE28A2DE6E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19826" y="1184911"/>
            <a:ext cx="7406640" cy="5848350"/>
          </a:xfrm>
        </p:spPr>
        <p:txBody>
          <a:bodyPr/>
          <a:lstStyle>
            <a:lvl1pPr>
              <a:defRPr sz="3840"/>
            </a:lvl1pPr>
            <a:lvl2pPr>
              <a:defRPr sz="3360"/>
            </a:lvl2pPr>
            <a:lvl3pPr>
              <a:defRPr sz="288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3C087A-959F-4759-BBA6-D6C2F40F55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BD8568-4E28-4F00-B3ED-CA235218F3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C0DF8-4567-4238-9D14-5C22DD15076B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349F9B-2C47-4BB2-920D-840055BE67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444495-B417-4921-9759-9217418F83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AA0F09-48DB-4226-82BF-1675091161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9463802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C8FD4-98AA-46BF-A29F-BA95AD5E0B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2275703-4BC7-4CFE-B298-EA8BE6E035F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219826" y="1184911"/>
            <a:ext cx="7406640" cy="5848350"/>
          </a:xfrm>
        </p:spPr>
        <p:txBody>
          <a:bodyPr/>
          <a:lstStyle>
            <a:lvl1pPr marL="0" indent="0">
              <a:buNone/>
              <a:defRPr sz="3840"/>
            </a:lvl1pPr>
            <a:lvl2pPr marL="548640" indent="0">
              <a:buNone/>
              <a:defRPr sz="3360"/>
            </a:lvl2pPr>
            <a:lvl3pPr marL="1097280" indent="0">
              <a:buNone/>
              <a:defRPr sz="2880"/>
            </a:lvl3pPr>
            <a:lvl4pPr marL="1645920" indent="0">
              <a:buNone/>
              <a:defRPr sz="2400"/>
            </a:lvl4pPr>
            <a:lvl5pPr marL="2194560" indent="0">
              <a:buNone/>
              <a:defRPr sz="2400"/>
            </a:lvl5pPr>
            <a:lvl6pPr marL="2743200" indent="0">
              <a:buNone/>
              <a:defRPr sz="2400"/>
            </a:lvl6pPr>
            <a:lvl7pPr marL="3291840" indent="0">
              <a:buNone/>
              <a:defRPr sz="2400"/>
            </a:lvl7pPr>
            <a:lvl8pPr marL="3840480" indent="0">
              <a:buNone/>
              <a:defRPr sz="2400"/>
            </a:lvl8pPr>
            <a:lvl9pPr marL="4389120" indent="0">
              <a:buNone/>
              <a:defRPr sz="24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930CC2-1A6E-4771-8813-4D8B118507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947FC8-46CB-4921-B586-89826DDC29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C0DF8-4567-4238-9D14-5C22DD15076B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909C75-7256-495A-A742-B1F78D747D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13A03F-4403-43C7-96C8-5307C90C8B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AA0F09-48DB-4226-82BF-1675091161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5914067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E08CEC-D48E-4761-B42C-3B4A787FCF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D4E18B-448F-428E-AAB7-F4C97A7BCA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07202D-99CC-4387-BBEC-8E321D59E2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C0DF8-4567-4238-9D14-5C22DD15076B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DFBA6D-C96C-49E9-A2B7-4B63CBF345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3C7DEC-92E1-4D50-BBB6-75D58BDFCA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AA0F09-48DB-4226-82BF-1675091161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991816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D6E8235-F996-41AA-A517-01B9844FEFF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0469880" y="438150"/>
            <a:ext cx="3154680" cy="6974206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D1ED56C-66F1-486C-B619-FCAEDFFA27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005840" y="438150"/>
            <a:ext cx="9281160" cy="697420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5B36AA-77E5-4195-867A-4644562C8A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C0DF8-4567-4238-9D14-5C22DD15076B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5075D3-43B7-4455-9E26-1554D4762B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36312D-42EE-42F6-8AF9-8310F0FAE4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AA0F09-48DB-4226-82BF-1675091161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6940777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0675878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7697306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8584241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2114869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2959671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324927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9536251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6646905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1680113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28859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ED17EAA-C8EA-495C-BABF-EBB3FA5FD2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5840" y="438150"/>
            <a:ext cx="12618720" cy="15906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A995C1-9D71-4D0F-9D0D-5CDA780EEC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05840" y="2190750"/>
            <a:ext cx="12618720" cy="52216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819C4C-EE84-474F-9AF5-E2286F790AD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584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0C0DF8-4567-4238-9D14-5C22DD15076B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5F4CF5-DF89-45D0-91E9-7A686B95E7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846320" y="7627621"/>
            <a:ext cx="493776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087A7B-F42D-419B-AFDE-D019ACC068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3272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AA0F09-48DB-4226-82BF-1675091161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81863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4" r:id="rId13"/>
    <p:sldLayoutId id="2147483675" r:id="rId14"/>
    <p:sldLayoutId id="2147483676" r:id="rId15"/>
    <p:sldLayoutId id="2147483677" r:id="rId16"/>
    <p:sldLayoutId id="2147483678" r:id="rId17"/>
    <p:sldLayoutId id="2147483679" r:id="rId18"/>
    <p:sldLayoutId id="2147483680" r:id="rId19"/>
    <p:sldLayoutId id="2147483681" r:id="rId20"/>
    <p:sldLayoutId id="2147483682" r:id="rId21"/>
  </p:sldLayoutIdLst>
  <p:hf sldNum="0" hdr="0" ftr="0" dt="0"/>
  <p:txStyles>
    <p:titleStyle>
      <a:lvl1pPr algn="l" defTabSz="1097280" rtl="0" eaLnBrk="1" latinLnBrk="0" hangingPunct="1">
        <a:lnSpc>
          <a:spcPct val="90000"/>
        </a:lnSpc>
        <a:spcBef>
          <a:spcPct val="0"/>
        </a:spcBef>
        <a:buNone/>
        <a:defRPr sz="52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109728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1pPr>
      <a:lvl2pPr marL="8229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46888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301752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5661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41148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6634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9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1.xml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19538" y="1572126"/>
            <a:ext cx="7917074" cy="2536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800" b="1" dirty="0">
                <a:solidFill>
                  <a:srgbClr val="403CCF"/>
                </a:solidFill>
                <a:latin typeface="Arial" panose="020B0604020202020204" pitchFamily="34" charset="0"/>
                <a:ea typeface="Libre Baskerville" pitchFamily="34" charset="-122"/>
                <a:cs typeface="Arial" panose="020B0604020202020204" pitchFamily="34" charset="0"/>
              </a:rPr>
              <a:t>Customer Shopping Behavior Analysis</a:t>
            </a:r>
            <a:endParaRPr lang="en-US" sz="4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6280190" y="4449247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Arial" panose="020B0604020202020204" pitchFamily="34" charset="0"/>
                <a:ea typeface="Open Sans" pitchFamily="34" charset="-122"/>
                <a:cs typeface="Arial" panose="020B0604020202020204" pitchFamily="34" charset="0"/>
              </a:rPr>
              <a:t>Uncovering insights from 3,900 purchases to guide strategic business decisions through data-driven analysis of spending patterns, customer segments, and product preferences.</a:t>
            </a:r>
            <a:endParaRPr lang="en-US" sz="1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827264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403CCF"/>
                </a:solidFill>
                <a:latin typeface="Arial" panose="020B0604020202020204" pitchFamily="34" charset="0"/>
                <a:ea typeface="Libre Baskerville" pitchFamily="34" charset="-122"/>
                <a:cs typeface="Arial" panose="020B0604020202020204" pitchFamily="34" charset="0"/>
              </a:rPr>
              <a:t>Dataset Overview</a:t>
            </a:r>
            <a:endParaRPr lang="en-US" sz="445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793790" y="4989552"/>
            <a:ext cx="3048000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49495A"/>
                </a:solidFill>
                <a:latin typeface="Arial" panose="020B0604020202020204" pitchFamily="34" charset="0"/>
                <a:ea typeface="Libre Baskerville" pitchFamily="34" charset="-122"/>
                <a:cs typeface="Arial" panose="020B0604020202020204" pitchFamily="34" charset="0"/>
              </a:rPr>
              <a:t>3,900</a:t>
            </a:r>
            <a:endParaRPr lang="en-US" sz="5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900113" y="602134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Arial" panose="020B0604020202020204" pitchFamily="34" charset="0"/>
                <a:ea typeface="Libre Baskerville" pitchFamily="34" charset="-122"/>
                <a:cs typeface="Arial" panose="020B0604020202020204" pitchFamily="34" charset="0"/>
              </a:rPr>
              <a:t>Total Purchases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793790" y="6511766"/>
            <a:ext cx="304800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Arial" panose="020B0604020202020204" pitchFamily="34" charset="0"/>
                <a:ea typeface="Open Sans" pitchFamily="34" charset="-122"/>
                <a:cs typeface="Arial" panose="020B0604020202020204" pitchFamily="34" charset="0"/>
              </a:rPr>
              <a:t>Comprehensive transactional data analyzed</a:t>
            </a:r>
            <a:endParaRPr lang="en-US" sz="1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4125278" y="4989552"/>
            <a:ext cx="3048119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49495A"/>
                </a:solidFill>
                <a:latin typeface="Arial" panose="020B0604020202020204" pitchFamily="34" charset="0"/>
                <a:ea typeface="Libre Baskerville" pitchFamily="34" charset="-122"/>
                <a:cs typeface="Arial" panose="020B0604020202020204" pitchFamily="34" charset="0"/>
              </a:rPr>
              <a:t>18</a:t>
            </a:r>
            <a:endParaRPr lang="en-US" sz="5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4231719" y="602134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Arial" panose="020B0604020202020204" pitchFamily="34" charset="0"/>
                <a:ea typeface="Libre Baskerville" pitchFamily="34" charset="-122"/>
                <a:cs typeface="Arial" panose="020B0604020202020204" pitchFamily="34" charset="0"/>
              </a:rPr>
              <a:t>Data Features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4125278" y="6511766"/>
            <a:ext cx="304811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Arial" panose="020B0604020202020204" pitchFamily="34" charset="0"/>
                <a:ea typeface="Open Sans" pitchFamily="34" charset="-122"/>
                <a:cs typeface="Arial" panose="020B0604020202020204" pitchFamily="34" charset="0"/>
              </a:rPr>
              <a:t>Customer demographics and shopping behavior</a:t>
            </a:r>
            <a:endParaRPr lang="en-US" sz="1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7456884" y="4989552"/>
            <a:ext cx="3048119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49495A"/>
                </a:solidFill>
                <a:latin typeface="Arial" panose="020B0604020202020204" pitchFamily="34" charset="0"/>
                <a:ea typeface="Libre Baskerville" pitchFamily="34" charset="-122"/>
                <a:cs typeface="Arial" panose="020B0604020202020204" pitchFamily="34" charset="0"/>
              </a:rPr>
              <a:t>50</a:t>
            </a:r>
            <a:endParaRPr lang="en-US" sz="5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7563326" y="602134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Arial" panose="020B0604020202020204" pitchFamily="34" charset="0"/>
                <a:ea typeface="Libre Baskerville" pitchFamily="34" charset="-122"/>
                <a:cs typeface="Arial" panose="020B0604020202020204" pitchFamily="34" charset="0"/>
              </a:rPr>
              <a:t>Locations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7456884" y="6511766"/>
            <a:ext cx="304811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Arial" panose="020B0604020202020204" pitchFamily="34" charset="0"/>
                <a:ea typeface="Open Sans" pitchFamily="34" charset="-122"/>
                <a:cs typeface="Arial" panose="020B0604020202020204" pitchFamily="34" charset="0"/>
              </a:rPr>
              <a:t>Geographic diversity across customer base</a:t>
            </a:r>
            <a:endParaRPr lang="en-US" sz="1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10788491" y="4989552"/>
            <a:ext cx="3048119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49495A"/>
                </a:solidFill>
                <a:latin typeface="Arial" panose="020B0604020202020204" pitchFamily="34" charset="0"/>
                <a:ea typeface="Libre Baskerville" pitchFamily="34" charset="-122"/>
                <a:cs typeface="Arial" panose="020B0604020202020204" pitchFamily="34" charset="0"/>
              </a:rPr>
              <a:t>25</a:t>
            </a:r>
            <a:endParaRPr lang="en-US" sz="5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10894933" y="602134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Arial" panose="020B0604020202020204" pitchFamily="34" charset="0"/>
                <a:ea typeface="Libre Baskerville" pitchFamily="34" charset="-122"/>
                <a:cs typeface="Arial" panose="020B0604020202020204" pitchFamily="34" charset="0"/>
              </a:rPr>
              <a:t>Product Types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10788491" y="6511766"/>
            <a:ext cx="304811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Arial" panose="020B0604020202020204" pitchFamily="34" charset="0"/>
                <a:ea typeface="Open Sans" pitchFamily="34" charset="-122"/>
                <a:cs typeface="Arial" panose="020B0604020202020204" pitchFamily="34" charset="0"/>
              </a:rPr>
              <a:t>Diverse inventory across four categories</a:t>
            </a:r>
            <a:endParaRPr lang="en-US" sz="1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000601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403CCF"/>
                </a:solidFill>
                <a:latin typeface="Arial" panose="020B0604020202020204" pitchFamily="34" charset="0"/>
                <a:ea typeface="Libre Baskerville" pitchFamily="34" charset="-122"/>
                <a:cs typeface="Arial" panose="020B0604020202020204" pitchFamily="34" charset="0"/>
              </a:rPr>
              <a:t>Data Preparation &amp; Analysis</a:t>
            </a:r>
            <a:endParaRPr lang="en-US" sz="445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6280190" y="2985135"/>
            <a:ext cx="318313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3CCF"/>
                </a:solidFill>
                <a:latin typeface="Arial" panose="020B0604020202020204" pitchFamily="34" charset="0"/>
                <a:ea typeface="Libre Baskerville" pitchFamily="34" charset="-122"/>
                <a:cs typeface="Arial" panose="020B0604020202020204" pitchFamily="34" charset="0"/>
              </a:rPr>
              <a:t>Python Data Cleaning</a:t>
            </a:r>
            <a:endParaRPr lang="en-US" sz="2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6280190" y="3566279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9495A"/>
                </a:solidFill>
                <a:latin typeface="Arial" panose="020B0604020202020204" pitchFamily="34" charset="0"/>
                <a:ea typeface="Open Sans" pitchFamily="34" charset="-122"/>
                <a:cs typeface="Arial" panose="020B0604020202020204" pitchFamily="34" charset="0"/>
              </a:rPr>
              <a:t>Loaded dataset using pandas</a:t>
            </a:r>
            <a:endParaRPr lang="en-US" sz="1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6280190" y="4008477"/>
            <a:ext cx="35015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9495A"/>
                </a:solidFill>
                <a:latin typeface="Arial" panose="020B0604020202020204" pitchFamily="34" charset="0"/>
                <a:ea typeface="Open Sans" pitchFamily="34" charset="-122"/>
                <a:cs typeface="Arial" panose="020B0604020202020204" pitchFamily="34" charset="0"/>
              </a:rPr>
              <a:t>Imputed 37 missing Review Rating values using median</a:t>
            </a:r>
            <a:endParaRPr lang="en-US" sz="1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6280190" y="4813578"/>
            <a:ext cx="35015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9495A"/>
                </a:solidFill>
                <a:latin typeface="Arial" panose="020B0604020202020204" pitchFamily="34" charset="0"/>
                <a:ea typeface="Open Sans" pitchFamily="34" charset="-122"/>
                <a:cs typeface="Arial" panose="020B0604020202020204" pitchFamily="34" charset="0"/>
              </a:rPr>
              <a:t>Standardized columns to snake case</a:t>
            </a:r>
            <a:endParaRPr lang="en-US" sz="1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6280190" y="5618678"/>
            <a:ext cx="35015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9495A"/>
                </a:solidFill>
                <a:latin typeface="Arial" panose="020B0604020202020204" pitchFamily="34" charset="0"/>
                <a:ea typeface="Open Sans" pitchFamily="34" charset="-122"/>
                <a:cs typeface="Arial" panose="020B0604020202020204" pitchFamily="34" charset="0"/>
              </a:rPr>
              <a:t>Created age_group and purchase_frequency features</a:t>
            </a:r>
            <a:endParaRPr lang="en-US" sz="1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6280190" y="6423779"/>
            <a:ext cx="35015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9495A"/>
                </a:solidFill>
                <a:latin typeface="Arial" panose="020B0604020202020204" pitchFamily="34" charset="0"/>
                <a:ea typeface="Open Sans" pitchFamily="34" charset="-122"/>
                <a:cs typeface="Arial" panose="020B0604020202020204" pitchFamily="34" charset="0"/>
              </a:rPr>
              <a:t>Integrated with PostgreSQL database</a:t>
            </a:r>
            <a:endParaRPr lang="en-US" sz="1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10342721" y="298513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3CCF"/>
                </a:solidFill>
                <a:latin typeface="Arial" panose="020B0604020202020204" pitchFamily="34" charset="0"/>
                <a:ea typeface="Libre Baskerville" pitchFamily="34" charset="-122"/>
                <a:cs typeface="Arial" panose="020B0604020202020204" pitchFamily="34" charset="0"/>
              </a:rPr>
              <a:t>Key Statistics</a:t>
            </a:r>
            <a:endParaRPr lang="en-US" sz="2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10342721" y="3566279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9495A"/>
                </a:solidFill>
                <a:latin typeface="Arial" panose="020B0604020202020204" pitchFamily="34" charset="0"/>
                <a:ea typeface="Open Sans" pitchFamily="34" charset="-122"/>
                <a:cs typeface="Arial" panose="020B0604020202020204" pitchFamily="34" charset="0"/>
              </a:rPr>
              <a:t>Average Purchase:</a:t>
            </a:r>
            <a:r>
              <a:rPr lang="en-US" sz="1750" dirty="0">
                <a:solidFill>
                  <a:srgbClr val="49495A"/>
                </a:solidFill>
                <a:latin typeface="Arial" panose="020B0604020202020204" pitchFamily="34" charset="0"/>
                <a:ea typeface="Open Sans" pitchFamily="34" charset="-122"/>
                <a:cs typeface="Arial" panose="020B0604020202020204" pitchFamily="34" charset="0"/>
              </a:rPr>
              <a:t> $59.76</a:t>
            </a:r>
            <a:endParaRPr lang="en-US" sz="1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10342721" y="4133255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9495A"/>
                </a:solidFill>
                <a:latin typeface="Arial" panose="020B0604020202020204" pitchFamily="34" charset="0"/>
                <a:ea typeface="Open Sans" pitchFamily="34" charset="-122"/>
                <a:cs typeface="Arial" panose="020B0604020202020204" pitchFamily="34" charset="0"/>
              </a:rPr>
              <a:t>Age Range:</a:t>
            </a:r>
            <a:r>
              <a:rPr lang="en-US" sz="1750" dirty="0">
                <a:solidFill>
                  <a:srgbClr val="49495A"/>
                </a:solidFill>
                <a:latin typeface="Arial" panose="020B0604020202020204" pitchFamily="34" charset="0"/>
                <a:ea typeface="Open Sans" pitchFamily="34" charset="-122"/>
                <a:cs typeface="Arial" panose="020B0604020202020204" pitchFamily="34" charset="0"/>
              </a:rPr>
              <a:t> 18-70 years</a:t>
            </a:r>
            <a:endParaRPr lang="en-US" sz="1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10342721" y="4700230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9495A"/>
                </a:solidFill>
                <a:latin typeface="Arial" panose="020B0604020202020204" pitchFamily="34" charset="0"/>
                <a:ea typeface="Open Sans" pitchFamily="34" charset="-122"/>
                <a:cs typeface="Arial" panose="020B0604020202020204" pitchFamily="34" charset="0"/>
              </a:rPr>
              <a:t>Average Rating:</a:t>
            </a:r>
            <a:r>
              <a:rPr lang="en-US" sz="1750" dirty="0">
                <a:solidFill>
                  <a:srgbClr val="49495A"/>
                </a:solidFill>
                <a:latin typeface="Arial" panose="020B0604020202020204" pitchFamily="34" charset="0"/>
                <a:ea typeface="Open Sans" pitchFamily="34" charset="-122"/>
                <a:cs typeface="Arial" panose="020B0604020202020204" pitchFamily="34" charset="0"/>
              </a:rPr>
              <a:t> 3.75/5.0</a:t>
            </a:r>
            <a:endParaRPr lang="en-US" sz="1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10342721" y="5267206"/>
            <a:ext cx="35015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9495A"/>
                </a:solidFill>
                <a:latin typeface="Arial" panose="020B0604020202020204" pitchFamily="34" charset="0"/>
                <a:ea typeface="Open Sans" pitchFamily="34" charset="-122"/>
                <a:cs typeface="Arial" panose="020B0604020202020204" pitchFamily="34" charset="0"/>
              </a:rPr>
              <a:t>Previous Purchases:</a:t>
            </a:r>
            <a:r>
              <a:rPr lang="en-US" sz="1750" dirty="0">
                <a:solidFill>
                  <a:srgbClr val="49495A"/>
                </a:solidFill>
                <a:latin typeface="Arial" panose="020B0604020202020204" pitchFamily="34" charset="0"/>
                <a:ea typeface="Open Sans" pitchFamily="34" charset="-122"/>
                <a:cs typeface="Arial" panose="020B0604020202020204" pitchFamily="34" charset="0"/>
              </a:rPr>
              <a:t> 1-50 per customer</a:t>
            </a:r>
            <a:endParaRPr lang="en-US" sz="1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807012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403CCF"/>
                </a:solidFill>
                <a:latin typeface="Arial" panose="020B0604020202020204" pitchFamily="34" charset="0"/>
                <a:ea typeface="Libre Baskerville" pitchFamily="34" charset="-122"/>
                <a:cs typeface="Arial" panose="020B0604020202020204" pitchFamily="34" charset="0"/>
              </a:rPr>
              <a:t>Revenue Insights</a:t>
            </a:r>
            <a:endParaRPr lang="en-US" sz="445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hape 1"/>
          <p:cNvSpPr/>
          <p:nvPr/>
        </p:nvSpPr>
        <p:spPr>
          <a:xfrm>
            <a:off x="6280190" y="2855952"/>
            <a:ext cx="7556421" cy="1669852"/>
          </a:xfrm>
          <a:prstGeom prst="roundRect">
            <a:avLst>
              <a:gd name="adj" fmla="val 2038"/>
            </a:avLst>
          </a:prstGeom>
          <a:solidFill>
            <a:srgbClr val="EAE8F3"/>
          </a:solidFill>
          <a:ln/>
        </p:spPr>
      </p:sp>
      <p:sp>
        <p:nvSpPr>
          <p:cNvPr id="5" name="Text 2"/>
          <p:cNvSpPr/>
          <p:nvPr/>
        </p:nvSpPr>
        <p:spPr>
          <a:xfrm>
            <a:off x="6507004" y="3082766"/>
            <a:ext cx="310062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9495A"/>
                </a:solidFill>
                <a:latin typeface="Arial" panose="020B0604020202020204" pitchFamily="34" charset="0"/>
                <a:ea typeface="Libre Baskerville" pitchFamily="34" charset="-122"/>
                <a:cs typeface="Arial" panose="020B0604020202020204" pitchFamily="34" charset="0"/>
              </a:rPr>
              <a:t>Gender Revenue Gap</a:t>
            </a:r>
            <a:endParaRPr lang="en-US" sz="2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6507004" y="3573185"/>
            <a:ext cx="710279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Arial" panose="020B0604020202020204" pitchFamily="34" charset="0"/>
                <a:ea typeface="Open Sans" pitchFamily="34" charset="-122"/>
                <a:cs typeface="Arial" panose="020B0604020202020204" pitchFamily="34" charset="0"/>
              </a:rPr>
              <a:t>Male customers generated </a:t>
            </a:r>
            <a:r>
              <a:rPr lang="en-US" sz="1750" b="1" dirty="0">
                <a:solidFill>
                  <a:srgbClr val="403CCF"/>
                </a:solidFill>
                <a:latin typeface="Arial" panose="020B0604020202020204" pitchFamily="34" charset="0"/>
                <a:ea typeface="Open Sans" pitchFamily="34" charset="-122"/>
                <a:cs typeface="Arial" panose="020B0604020202020204" pitchFamily="34" charset="0"/>
              </a:rPr>
              <a:t>$157,890</a:t>
            </a:r>
            <a:r>
              <a:rPr lang="en-US" sz="1750" dirty="0">
                <a:solidFill>
                  <a:srgbClr val="49495A"/>
                </a:solidFill>
                <a:latin typeface="Arial" panose="020B0604020202020204" pitchFamily="34" charset="0"/>
                <a:ea typeface="Open Sans" pitchFamily="34" charset="-122"/>
                <a:cs typeface="Arial" panose="020B0604020202020204" pitchFamily="34" charset="0"/>
              </a:rPr>
              <a:t> vs. female customers at </a:t>
            </a:r>
            <a:r>
              <a:rPr lang="en-US" sz="1750" b="1" dirty="0">
                <a:solidFill>
                  <a:srgbClr val="49495A"/>
                </a:solidFill>
                <a:latin typeface="Arial" panose="020B0604020202020204" pitchFamily="34" charset="0"/>
                <a:ea typeface="Open Sans" pitchFamily="34" charset="-122"/>
                <a:cs typeface="Arial" panose="020B0604020202020204" pitchFamily="34" charset="0"/>
              </a:rPr>
              <a:t>$75,191</a:t>
            </a:r>
            <a:r>
              <a:rPr lang="en-US" sz="1750" dirty="0">
                <a:solidFill>
                  <a:srgbClr val="49495A"/>
                </a:solidFill>
                <a:latin typeface="Arial" panose="020B0604020202020204" pitchFamily="34" charset="0"/>
                <a:ea typeface="Open Sans" pitchFamily="34" charset="-122"/>
                <a:cs typeface="Arial" panose="020B0604020202020204" pitchFamily="34" charset="0"/>
              </a:rPr>
              <a:t> — more than double the revenue contribution.</a:t>
            </a:r>
            <a:endParaRPr lang="en-US" sz="1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hape 4"/>
          <p:cNvSpPr/>
          <p:nvPr/>
        </p:nvSpPr>
        <p:spPr>
          <a:xfrm>
            <a:off x="6280190" y="4752618"/>
            <a:ext cx="7556421" cy="1669852"/>
          </a:xfrm>
          <a:prstGeom prst="roundRect">
            <a:avLst>
              <a:gd name="adj" fmla="val 2038"/>
            </a:avLst>
          </a:prstGeom>
          <a:solidFill>
            <a:srgbClr val="EAE8F3"/>
          </a:solidFill>
          <a:ln/>
        </p:spPr>
      </p:sp>
      <p:sp>
        <p:nvSpPr>
          <p:cNvPr id="8" name="Text 5"/>
          <p:cNvSpPr/>
          <p:nvPr/>
        </p:nvSpPr>
        <p:spPr>
          <a:xfrm>
            <a:off x="6507004" y="4979432"/>
            <a:ext cx="309669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9495A"/>
                </a:solidFill>
                <a:latin typeface="Arial" panose="020B0604020202020204" pitchFamily="34" charset="0"/>
                <a:ea typeface="Libre Baskerville" pitchFamily="34" charset="-122"/>
                <a:cs typeface="Arial" panose="020B0604020202020204" pitchFamily="34" charset="0"/>
              </a:rPr>
              <a:t>Shipping Preferences</a:t>
            </a:r>
            <a:endParaRPr lang="en-US" sz="2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6507004" y="5469850"/>
            <a:ext cx="710279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Arial" panose="020B0604020202020204" pitchFamily="34" charset="0"/>
                <a:ea typeface="Open Sans" pitchFamily="34" charset="-122"/>
                <a:cs typeface="Arial" panose="020B0604020202020204" pitchFamily="34" charset="0"/>
              </a:rPr>
              <a:t>Express shipping users spend </a:t>
            </a:r>
            <a:r>
              <a:rPr lang="en-US" sz="1750" b="1" dirty="0">
                <a:solidFill>
                  <a:srgbClr val="403CCF"/>
                </a:solidFill>
                <a:latin typeface="Arial" panose="020B0604020202020204" pitchFamily="34" charset="0"/>
                <a:ea typeface="Open Sans" pitchFamily="34" charset="-122"/>
                <a:cs typeface="Arial" panose="020B0604020202020204" pitchFamily="34" charset="0"/>
              </a:rPr>
              <a:t>$60.48</a:t>
            </a:r>
            <a:r>
              <a:rPr lang="en-US" sz="1750" dirty="0">
                <a:solidFill>
                  <a:srgbClr val="49495A"/>
                </a:solidFill>
                <a:latin typeface="Arial" panose="020B0604020202020204" pitchFamily="34" charset="0"/>
                <a:ea typeface="Open Sans" pitchFamily="34" charset="-122"/>
                <a:cs typeface="Arial" panose="020B0604020202020204" pitchFamily="34" charset="0"/>
              </a:rPr>
              <a:t> on average vs. </a:t>
            </a:r>
            <a:r>
              <a:rPr lang="en-US" sz="1750" b="1" dirty="0">
                <a:solidFill>
                  <a:srgbClr val="49495A"/>
                </a:solidFill>
                <a:latin typeface="Arial" panose="020B0604020202020204" pitchFamily="34" charset="0"/>
                <a:ea typeface="Open Sans" pitchFamily="34" charset="-122"/>
                <a:cs typeface="Arial" panose="020B0604020202020204" pitchFamily="34" charset="0"/>
              </a:rPr>
              <a:t>$58.46</a:t>
            </a:r>
            <a:r>
              <a:rPr lang="en-US" sz="1750" dirty="0">
                <a:solidFill>
                  <a:srgbClr val="49495A"/>
                </a:solidFill>
                <a:latin typeface="Arial" panose="020B0604020202020204" pitchFamily="34" charset="0"/>
                <a:ea typeface="Open Sans" pitchFamily="34" charset="-122"/>
                <a:cs typeface="Arial" panose="020B0604020202020204" pitchFamily="34" charset="0"/>
              </a:rPr>
              <a:t> for Standard — indicating premium service preference.</a:t>
            </a:r>
            <a:endParaRPr lang="en-US" sz="1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6057" y="628758"/>
            <a:ext cx="3802014" cy="5245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900" b="1" dirty="0">
                <a:solidFill>
                  <a:srgbClr val="403CCF"/>
                </a:solidFill>
                <a:latin typeface="Arial" panose="020B0604020202020204" pitchFamily="34" charset="0"/>
                <a:ea typeface="Libre Baskerville" pitchFamily="34" charset="-122"/>
                <a:cs typeface="Arial" panose="020B0604020202020204" pitchFamily="34" charset="0"/>
              </a:rPr>
              <a:t>Subscription Analysis</a:t>
            </a:r>
            <a:endParaRPr lang="en-US" sz="29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2331270" y="2393662"/>
            <a:ext cx="1705068" cy="1923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900"/>
              </a:lnSpc>
              <a:buNone/>
            </a:pPr>
            <a:r>
              <a:rPr lang="en-US" sz="2900" dirty="0">
                <a:solidFill>
                  <a:srgbClr val="49495A"/>
                </a:solidFill>
                <a:latin typeface="Arial" panose="020B0604020202020204" pitchFamily="34" charset="0"/>
                <a:ea typeface="Libre Baskerville" pitchFamily="34" charset="-122"/>
                <a:cs typeface="Arial" panose="020B0604020202020204" pitchFamily="34" charset="0"/>
              </a:rPr>
              <a:t>27%</a:t>
            </a:r>
            <a:endParaRPr lang="en-US" sz="2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2DF8AFA9-9D83-4B15-8123-DD1A34C230FB}"/>
              </a:ext>
            </a:extLst>
          </p:cNvPr>
          <p:cNvGrpSpPr/>
          <p:nvPr/>
        </p:nvGrpSpPr>
        <p:grpSpPr>
          <a:xfrm>
            <a:off x="766057" y="1475570"/>
            <a:ext cx="4901217" cy="2878671"/>
            <a:chOff x="838071" y="1429963"/>
            <a:chExt cx="4901217" cy="2878671"/>
          </a:xfrm>
        </p:grpSpPr>
        <p:pic>
          <p:nvPicPr>
            <p:cNvPr id="4" name="Image 0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156483" y="1429963"/>
              <a:ext cx="2079403" cy="2079403"/>
            </a:xfrm>
            <a:prstGeom prst="rect">
              <a:avLst/>
            </a:prstGeom>
          </p:spPr>
        </p:pic>
        <p:sp>
          <p:nvSpPr>
            <p:cNvPr id="5" name="Text 2"/>
            <p:cNvSpPr/>
            <p:nvPr/>
          </p:nvSpPr>
          <p:spPr>
            <a:xfrm>
              <a:off x="2318448" y="3804430"/>
              <a:ext cx="1732891" cy="23967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ts val="1800"/>
                </a:lnSpc>
                <a:buNone/>
              </a:pPr>
              <a:r>
                <a:rPr lang="en-US" sz="1450" b="1" dirty="0">
                  <a:solidFill>
                    <a:srgbClr val="49495A"/>
                  </a:solidFill>
                  <a:latin typeface="Arial" panose="020B0604020202020204" pitchFamily="34" charset="0"/>
                  <a:ea typeface="Libre Baskerville" pitchFamily="34" charset="-122"/>
                  <a:cs typeface="Arial" panose="020B0604020202020204" pitchFamily="34" charset="0"/>
                </a:rPr>
                <a:t>Subscribers</a:t>
              </a:r>
              <a:endParaRPr lang="en-US" sz="145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" name="Text 3"/>
            <p:cNvSpPr/>
            <p:nvPr/>
          </p:nvSpPr>
          <p:spPr>
            <a:xfrm>
              <a:off x="838071" y="4185491"/>
              <a:ext cx="4901217" cy="12314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ts val="1850"/>
                </a:lnSpc>
                <a:buNone/>
              </a:pPr>
              <a:r>
                <a:rPr lang="en-US" sz="1150" dirty="0">
                  <a:solidFill>
                    <a:srgbClr val="49495A"/>
                  </a:solidFill>
                  <a:latin typeface="Arial" panose="020B0604020202020204" pitchFamily="34" charset="0"/>
                  <a:ea typeface="Open Sans" pitchFamily="34" charset="-122"/>
                  <a:cs typeface="Arial" panose="020B0604020202020204" pitchFamily="34" charset="0"/>
                </a:rPr>
                <a:t>1,053 customers</a:t>
              </a:r>
              <a:endParaRPr lang="en-US" sz="115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C4682C9-96A5-43CE-8B8B-1256159ADA5B}"/>
              </a:ext>
            </a:extLst>
          </p:cNvPr>
          <p:cNvGrpSpPr/>
          <p:nvPr/>
        </p:nvGrpSpPr>
        <p:grpSpPr>
          <a:xfrm>
            <a:off x="766057" y="4777168"/>
            <a:ext cx="4901217" cy="2756624"/>
            <a:chOff x="838071" y="4777167"/>
            <a:chExt cx="4901217" cy="2878671"/>
          </a:xfrm>
        </p:grpSpPr>
        <p:pic>
          <p:nvPicPr>
            <p:cNvPr id="8" name="Image 1" descr="preencoded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156483" y="4777167"/>
              <a:ext cx="2079403" cy="2079403"/>
            </a:xfrm>
            <a:prstGeom prst="rect">
              <a:avLst/>
            </a:prstGeom>
          </p:spPr>
        </p:pic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BF28C195-4AF1-4B0B-81FB-E87225C25499}"/>
                </a:ext>
              </a:extLst>
            </p:cNvPr>
            <p:cNvGrpSpPr/>
            <p:nvPr/>
          </p:nvGrpSpPr>
          <p:grpSpPr>
            <a:xfrm>
              <a:off x="2318448" y="5740866"/>
              <a:ext cx="1917438" cy="1619459"/>
              <a:chOff x="2318448" y="5740866"/>
              <a:chExt cx="1917438" cy="1619459"/>
            </a:xfrm>
          </p:grpSpPr>
          <p:sp>
            <p:nvSpPr>
              <p:cNvPr id="7" name="Text 4"/>
              <p:cNvSpPr/>
              <p:nvPr/>
            </p:nvSpPr>
            <p:spPr>
              <a:xfrm>
                <a:off x="2331270" y="5740866"/>
                <a:ext cx="1705068" cy="192376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marL="0" indent="0" algn="ctr">
                  <a:lnSpc>
                    <a:spcPts val="2900"/>
                  </a:lnSpc>
                  <a:buNone/>
                </a:pPr>
                <a:r>
                  <a:rPr lang="en-US" sz="2900" dirty="0">
                    <a:solidFill>
                      <a:srgbClr val="49495A"/>
                    </a:solidFill>
                    <a:latin typeface="Arial" panose="020B0604020202020204" pitchFamily="34" charset="0"/>
                    <a:ea typeface="Libre Baskerville" pitchFamily="34" charset="-122"/>
                    <a:cs typeface="Arial" panose="020B0604020202020204" pitchFamily="34" charset="0"/>
                  </a:rPr>
                  <a:t>73%</a:t>
                </a:r>
                <a:endParaRPr lang="en-US" sz="29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9" name="Text 5"/>
              <p:cNvSpPr/>
              <p:nvPr/>
            </p:nvSpPr>
            <p:spPr>
              <a:xfrm>
                <a:off x="2318448" y="7151634"/>
                <a:ext cx="1917438" cy="208691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marL="0" indent="0" algn="ctr">
                  <a:lnSpc>
                    <a:spcPts val="1800"/>
                  </a:lnSpc>
                  <a:buNone/>
                </a:pPr>
                <a:r>
                  <a:rPr lang="en-US" sz="1450" b="1" dirty="0">
                    <a:solidFill>
                      <a:srgbClr val="49495A"/>
                    </a:solidFill>
                    <a:latin typeface="Arial" panose="020B0604020202020204" pitchFamily="34" charset="0"/>
                    <a:ea typeface="Libre Baskerville" pitchFamily="34" charset="-122"/>
                    <a:cs typeface="Arial" panose="020B0604020202020204" pitchFamily="34" charset="0"/>
                  </a:rPr>
                  <a:t>Non-Subscribers</a:t>
                </a:r>
                <a:endParaRPr lang="en-US" sz="145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10" name="Text 6"/>
            <p:cNvSpPr/>
            <p:nvPr/>
          </p:nvSpPr>
          <p:spPr>
            <a:xfrm>
              <a:off x="838071" y="7532695"/>
              <a:ext cx="4901217" cy="12314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ts val="1850"/>
                </a:lnSpc>
                <a:buNone/>
              </a:pPr>
              <a:r>
                <a:rPr lang="en-US" sz="1150" dirty="0">
                  <a:solidFill>
                    <a:srgbClr val="49495A"/>
                  </a:solidFill>
                  <a:latin typeface="Arial" panose="020B0604020202020204" pitchFamily="34" charset="0"/>
                  <a:ea typeface="Open Sans" pitchFamily="34" charset="-122"/>
                  <a:cs typeface="Arial" panose="020B0604020202020204" pitchFamily="34" charset="0"/>
                </a:rPr>
                <a:t>2,847 customers</a:t>
              </a:r>
              <a:endParaRPr lang="en-US" sz="115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1" name="Text 7"/>
          <p:cNvSpPr/>
          <p:nvPr/>
        </p:nvSpPr>
        <p:spPr>
          <a:xfrm>
            <a:off x="6088239" y="2914906"/>
            <a:ext cx="7704090" cy="13026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dirty="0">
                <a:solidFill>
                  <a:srgbClr val="49495A"/>
                </a:solidFill>
                <a:latin typeface="Arial" panose="020B0604020202020204" pitchFamily="34" charset="0"/>
                <a:ea typeface="Open Sans" pitchFamily="34" charset="-122"/>
                <a:cs typeface="Arial" panose="020B0604020202020204" pitchFamily="34" charset="0"/>
              </a:rPr>
              <a:t>Despite similar average spend (</a:t>
            </a:r>
            <a:r>
              <a:rPr lang="en-US" sz="2400" b="1" dirty="0">
                <a:solidFill>
                  <a:srgbClr val="49495A"/>
                </a:solidFill>
                <a:latin typeface="Arial" panose="020B0604020202020204" pitchFamily="34" charset="0"/>
                <a:ea typeface="Open Sans" pitchFamily="34" charset="-122"/>
                <a:cs typeface="Arial" panose="020B0604020202020204" pitchFamily="34" charset="0"/>
              </a:rPr>
              <a:t>$59.49</a:t>
            </a:r>
            <a:r>
              <a:rPr lang="en-US" sz="2400" dirty="0">
                <a:solidFill>
                  <a:srgbClr val="49495A"/>
                </a:solidFill>
                <a:latin typeface="Arial" panose="020B0604020202020204" pitchFamily="34" charset="0"/>
                <a:ea typeface="Open Sans" pitchFamily="34" charset="-122"/>
                <a:cs typeface="Arial" panose="020B0604020202020204" pitchFamily="34" charset="0"/>
              </a:rPr>
              <a:t> vs. </a:t>
            </a:r>
            <a:r>
              <a:rPr lang="en-US" sz="2400" b="1" dirty="0">
                <a:solidFill>
                  <a:srgbClr val="49495A"/>
                </a:solidFill>
                <a:latin typeface="Arial" panose="020B0604020202020204" pitchFamily="34" charset="0"/>
                <a:ea typeface="Open Sans" pitchFamily="34" charset="-122"/>
                <a:cs typeface="Arial" panose="020B0604020202020204" pitchFamily="34" charset="0"/>
              </a:rPr>
              <a:t>$59.87</a:t>
            </a:r>
            <a:r>
              <a:rPr lang="en-US" sz="2400" dirty="0">
                <a:solidFill>
                  <a:srgbClr val="49495A"/>
                </a:solidFill>
                <a:latin typeface="Arial" panose="020B0604020202020204" pitchFamily="34" charset="0"/>
                <a:ea typeface="Open Sans" pitchFamily="34" charset="-122"/>
                <a:cs typeface="Arial" panose="020B0604020202020204" pitchFamily="34" charset="0"/>
              </a:rPr>
              <a:t>), non-subscribers drive significantly higher total revenue due to volume.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8"/>
          <p:cNvSpPr/>
          <p:nvPr/>
        </p:nvSpPr>
        <p:spPr>
          <a:xfrm>
            <a:off x="6288505" y="5061653"/>
            <a:ext cx="6657474" cy="21500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400" dirty="0">
                <a:solidFill>
                  <a:srgbClr val="49495A"/>
                </a:solidFill>
                <a:highlight>
                  <a:srgbClr val="E7E0FF"/>
                </a:highlight>
                <a:latin typeface="Arial" panose="020B0604020202020204" pitchFamily="34" charset="0"/>
                <a:ea typeface="Open Sans" pitchFamily="34" charset="-122"/>
                <a:cs typeface="Arial" panose="020B0604020202020204" pitchFamily="34" charset="0"/>
              </a:rPr>
              <a:t>Opportunity:</a:t>
            </a:r>
            <a:r>
              <a:rPr lang="en-US" sz="2400" dirty="0">
                <a:solidFill>
                  <a:srgbClr val="49495A"/>
                </a:solidFill>
                <a:latin typeface="Arial" panose="020B0604020202020204" pitchFamily="34" charset="0"/>
                <a:ea typeface="Open Sans" pitchFamily="34" charset="-122"/>
                <a:cs typeface="Arial" panose="020B0604020202020204" pitchFamily="34" charset="0"/>
              </a:rPr>
              <a:t> Converting just 10% more customers </a:t>
            </a:r>
          </a:p>
          <a:p>
            <a:pPr marL="0" indent="0" algn="l">
              <a:buNone/>
            </a:pPr>
            <a:r>
              <a:rPr lang="en-US" sz="2400" dirty="0">
                <a:solidFill>
                  <a:srgbClr val="49495A"/>
                </a:solidFill>
                <a:latin typeface="Arial" panose="020B0604020202020204" pitchFamily="34" charset="0"/>
                <a:ea typeface="Open Sans" pitchFamily="34" charset="-122"/>
                <a:cs typeface="Arial" panose="020B0604020202020204" pitchFamily="34" charset="0"/>
              </a:rPr>
              <a:t>to subscriptions could unlock substantial recurring</a:t>
            </a:r>
          </a:p>
          <a:p>
            <a:pPr marL="0" indent="0" algn="l">
              <a:buNone/>
            </a:pPr>
            <a:r>
              <a:rPr lang="en-US" sz="2400" dirty="0">
                <a:solidFill>
                  <a:srgbClr val="49495A"/>
                </a:solidFill>
                <a:latin typeface="Arial" panose="020B0604020202020204" pitchFamily="34" charset="0"/>
                <a:ea typeface="Open Sans" pitchFamily="34" charset="-122"/>
                <a:cs typeface="Arial" panose="020B0604020202020204" pitchFamily="34" charset="0"/>
              </a:rPr>
              <a:t>revenue.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746052"/>
            <a:ext cx="628840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403CCF"/>
                </a:solidFill>
                <a:latin typeface="Arial" panose="020B0604020202020204" pitchFamily="34" charset="0"/>
                <a:ea typeface="Libre Baskerville" pitchFamily="34" charset="-122"/>
                <a:cs typeface="Arial" panose="020B0604020202020204" pitchFamily="34" charset="0"/>
              </a:rPr>
              <a:t>Smart </a:t>
            </a:r>
            <a:r>
              <a:rPr lang="en-US" sz="4450" b="1" dirty="0">
                <a:solidFill>
                  <a:srgbClr val="403CCF"/>
                </a:solidFill>
                <a:latin typeface="Arial" panose="020B0604020202020204" pitchFamily="34" charset="0"/>
                <a:ea typeface="Libre Baskerville" pitchFamily="34" charset="-122"/>
                <a:cs typeface="Arial" panose="020B0604020202020204" pitchFamily="34" charset="0"/>
              </a:rPr>
              <a:t>Discount</a:t>
            </a:r>
            <a:r>
              <a:rPr lang="en-US" sz="4450" dirty="0">
                <a:solidFill>
                  <a:srgbClr val="403CCF"/>
                </a:solidFill>
                <a:latin typeface="Arial" panose="020B0604020202020204" pitchFamily="34" charset="0"/>
                <a:ea typeface="Libre Baskerville" pitchFamily="34" charset="-122"/>
                <a:cs typeface="Arial" panose="020B0604020202020204" pitchFamily="34" charset="0"/>
              </a:rPr>
              <a:t> Users</a:t>
            </a:r>
            <a:endParaRPr lang="en-US" sz="44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hape 1"/>
          <p:cNvSpPr/>
          <p:nvPr/>
        </p:nvSpPr>
        <p:spPr>
          <a:xfrm>
            <a:off x="6280190" y="2794992"/>
            <a:ext cx="7556421" cy="1730812"/>
          </a:xfrm>
          <a:prstGeom prst="roundRect">
            <a:avLst>
              <a:gd name="adj" fmla="val 8453"/>
            </a:avLst>
          </a:prstGeom>
          <a:solidFill>
            <a:srgbClr val="FBFAFF"/>
          </a:solidFill>
          <a:ln w="30480">
            <a:solidFill>
              <a:srgbClr val="D0CED9"/>
            </a:solidFill>
            <a:prstDash val="solid"/>
          </a:ln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9710" y="2794992"/>
            <a:ext cx="121920" cy="173081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628924" y="3052286"/>
            <a:ext cx="448044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latin typeface="Arial" panose="020B0604020202020204" pitchFamily="34" charset="0"/>
                <a:ea typeface="Libre Baskerville" pitchFamily="34" charset="-122"/>
                <a:cs typeface="Arial" panose="020B0604020202020204" pitchFamily="34" charset="0"/>
              </a:rPr>
              <a:t>High-Value Discount Shoppers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3"/>
          <p:cNvSpPr/>
          <p:nvPr/>
        </p:nvSpPr>
        <p:spPr>
          <a:xfrm>
            <a:off x="6628924" y="3542705"/>
            <a:ext cx="695039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03CCF"/>
                </a:solidFill>
                <a:latin typeface="Arial" panose="020B0604020202020204" pitchFamily="34" charset="0"/>
                <a:ea typeface="Open Sans" pitchFamily="34" charset="-122"/>
                <a:cs typeface="Arial" panose="020B0604020202020204" pitchFamily="34" charset="0"/>
              </a:rPr>
              <a:t>839 customers</a:t>
            </a:r>
            <a:r>
              <a:rPr lang="en-US" sz="1750" dirty="0">
                <a:solidFill>
                  <a:srgbClr val="49495A"/>
                </a:solidFill>
                <a:latin typeface="Arial" panose="020B0604020202020204" pitchFamily="34" charset="0"/>
                <a:ea typeface="Open Sans" pitchFamily="34" charset="-122"/>
                <a:cs typeface="Arial" panose="020B0604020202020204" pitchFamily="34" charset="0"/>
              </a:rPr>
              <a:t> used discounts but still spent above the $59.76 average purchase amount.</a:t>
            </a:r>
            <a:endParaRPr lang="en-US" sz="1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hape 4"/>
          <p:cNvSpPr/>
          <p:nvPr/>
        </p:nvSpPr>
        <p:spPr>
          <a:xfrm>
            <a:off x="6280190" y="4752618"/>
            <a:ext cx="7556421" cy="1730812"/>
          </a:xfrm>
          <a:prstGeom prst="roundRect">
            <a:avLst>
              <a:gd name="adj" fmla="val 8453"/>
            </a:avLst>
          </a:prstGeom>
          <a:solidFill>
            <a:srgbClr val="FBFAFF"/>
          </a:solidFill>
          <a:ln w="30480">
            <a:solidFill>
              <a:srgbClr val="D0CED9"/>
            </a:solidFill>
            <a:prstDash val="solid"/>
          </a:ln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9710" y="4752618"/>
            <a:ext cx="121920" cy="173081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628924" y="5009912"/>
            <a:ext cx="441436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latin typeface="Arial" panose="020B0604020202020204" pitchFamily="34" charset="0"/>
                <a:ea typeface="Libre Baskerville" pitchFamily="34" charset="-122"/>
                <a:cs typeface="Arial" panose="020B0604020202020204" pitchFamily="34" charset="0"/>
              </a:rPr>
              <a:t>Discount-Dependent Products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6"/>
          <p:cNvSpPr/>
          <p:nvPr/>
        </p:nvSpPr>
        <p:spPr>
          <a:xfrm>
            <a:off x="6628924" y="5500330"/>
            <a:ext cx="695039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Arial" panose="020B0604020202020204" pitchFamily="34" charset="0"/>
                <a:ea typeface="Open Sans" pitchFamily="34" charset="-122"/>
                <a:cs typeface="Arial" panose="020B0604020202020204" pitchFamily="34" charset="0"/>
              </a:rPr>
              <a:t>Hats lead at </a:t>
            </a:r>
            <a:r>
              <a:rPr lang="en-US" sz="1750" b="1" dirty="0">
                <a:solidFill>
                  <a:srgbClr val="49495A"/>
                </a:solidFill>
                <a:latin typeface="Arial" panose="020B0604020202020204" pitchFamily="34" charset="0"/>
                <a:ea typeface="Open Sans" pitchFamily="34" charset="-122"/>
                <a:cs typeface="Arial" panose="020B0604020202020204" pitchFamily="34" charset="0"/>
              </a:rPr>
              <a:t>50% discount rate</a:t>
            </a:r>
            <a:r>
              <a:rPr lang="en-US" sz="1750" dirty="0">
                <a:solidFill>
                  <a:srgbClr val="49495A"/>
                </a:solidFill>
                <a:latin typeface="Arial" panose="020B0604020202020204" pitchFamily="34" charset="0"/>
                <a:ea typeface="Open Sans" pitchFamily="34" charset="-122"/>
                <a:cs typeface="Arial" panose="020B0604020202020204" pitchFamily="34" charset="0"/>
              </a:rPr>
              <a:t>, followed by Sneakers (49.66%), Coats (49.07%), Sweaters (48.17%), and Pants (47.37%).</a:t>
            </a:r>
            <a:endParaRPr lang="en-US" sz="1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773198"/>
            <a:ext cx="581263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403CCF"/>
                </a:solidFill>
                <a:latin typeface="Arial" panose="020B0604020202020204" pitchFamily="34" charset="0"/>
                <a:ea typeface="Libre Baskerville" pitchFamily="34" charset="-122"/>
                <a:cs typeface="Arial" panose="020B0604020202020204" pitchFamily="34" charset="0"/>
              </a:rPr>
              <a:t>Top-Rated Products</a:t>
            </a:r>
            <a:endParaRPr lang="en-US" sz="445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793790" y="3048953"/>
            <a:ext cx="3513892" cy="283488"/>
          </a:xfrm>
          <a:prstGeom prst="roundRect">
            <a:avLst>
              <a:gd name="adj" fmla="val 12002"/>
            </a:avLst>
          </a:prstGeom>
          <a:solidFill>
            <a:srgbClr val="EAE8F3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3048953"/>
            <a:ext cx="2705695" cy="283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477703" y="3048953"/>
            <a:ext cx="474702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Arial" panose="020B0604020202020204" pitchFamily="34" charset="0"/>
                <a:ea typeface="Libre Baskerville" pitchFamily="34" charset="-122"/>
                <a:cs typeface="Arial" panose="020B0604020202020204" pitchFamily="34" charset="0"/>
              </a:rPr>
              <a:t>77%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793790" y="361580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9495A"/>
                </a:solidFill>
                <a:latin typeface="Arial" panose="020B0604020202020204" pitchFamily="34" charset="0"/>
                <a:ea typeface="Libre Baskerville" pitchFamily="34" charset="-122"/>
                <a:cs typeface="Arial" panose="020B0604020202020204" pitchFamily="34" charset="0"/>
              </a:rPr>
              <a:t>Gloves</a:t>
            </a:r>
            <a:endParaRPr lang="en-US" sz="2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793790" y="4106228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Arial" panose="020B0604020202020204" pitchFamily="34" charset="0"/>
                <a:ea typeface="Open Sans" pitchFamily="34" charset="-122"/>
                <a:cs typeface="Arial" panose="020B0604020202020204" pitchFamily="34" charset="0"/>
              </a:rPr>
              <a:t>Highest rated at 3.86/5.0</a:t>
            </a:r>
            <a:endParaRPr lang="en-US" sz="1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5235893" y="3048953"/>
            <a:ext cx="3513892" cy="283488"/>
          </a:xfrm>
          <a:prstGeom prst="roundRect">
            <a:avLst>
              <a:gd name="adj" fmla="val 12002"/>
            </a:avLst>
          </a:prstGeom>
          <a:solidFill>
            <a:srgbClr val="EAE8F3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5893" y="3048953"/>
            <a:ext cx="2705695" cy="28348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919805" y="3048953"/>
            <a:ext cx="474702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Arial" panose="020B0604020202020204" pitchFamily="34" charset="0"/>
                <a:ea typeface="Libre Baskerville" pitchFamily="34" charset="-122"/>
                <a:cs typeface="Arial" panose="020B0604020202020204" pitchFamily="34" charset="0"/>
              </a:rPr>
              <a:t>77%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7"/>
          <p:cNvSpPr/>
          <p:nvPr/>
        </p:nvSpPr>
        <p:spPr>
          <a:xfrm>
            <a:off x="5235893" y="361580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9495A"/>
                </a:solidFill>
                <a:latin typeface="Arial" panose="020B0604020202020204" pitchFamily="34" charset="0"/>
                <a:ea typeface="Libre Baskerville" pitchFamily="34" charset="-122"/>
                <a:cs typeface="Arial" panose="020B0604020202020204" pitchFamily="34" charset="0"/>
              </a:rPr>
              <a:t>Sandals</a:t>
            </a:r>
            <a:endParaRPr lang="en-US" sz="2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8"/>
          <p:cNvSpPr/>
          <p:nvPr/>
        </p:nvSpPr>
        <p:spPr>
          <a:xfrm>
            <a:off x="5235893" y="4106228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Arial" panose="020B0604020202020204" pitchFamily="34" charset="0"/>
                <a:ea typeface="Open Sans" pitchFamily="34" charset="-122"/>
                <a:cs typeface="Arial" panose="020B0604020202020204" pitchFamily="34" charset="0"/>
              </a:rPr>
              <a:t>Strong performance at 3.84/5.0</a:t>
            </a:r>
            <a:endParaRPr lang="en-US" sz="1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Shape 9"/>
          <p:cNvSpPr/>
          <p:nvPr/>
        </p:nvSpPr>
        <p:spPr>
          <a:xfrm>
            <a:off x="9677995" y="3048953"/>
            <a:ext cx="3473887" cy="283488"/>
          </a:xfrm>
          <a:prstGeom prst="roundRect">
            <a:avLst>
              <a:gd name="adj" fmla="val 12002"/>
            </a:avLst>
          </a:prstGeom>
          <a:solidFill>
            <a:srgbClr val="EAE8F3"/>
          </a:solidFill>
          <a:ln/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77995" y="3048953"/>
            <a:ext cx="2640092" cy="28348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3321903" y="3048953"/>
            <a:ext cx="514707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Arial" panose="020B0604020202020204" pitchFamily="34" charset="0"/>
                <a:ea typeface="Libre Baskerville" pitchFamily="34" charset="-122"/>
                <a:cs typeface="Arial" panose="020B0604020202020204" pitchFamily="34" charset="0"/>
              </a:rPr>
              <a:t>76%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11"/>
          <p:cNvSpPr/>
          <p:nvPr/>
        </p:nvSpPr>
        <p:spPr>
          <a:xfrm>
            <a:off x="9677995" y="361580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9495A"/>
                </a:solidFill>
                <a:latin typeface="Arial" panose="020B0604020202020204" pitchFamily="34" charset="0"/>
                <a:ea typeface="Libre Baskerville" pitchFamily="34" charset="-122"/>
                <a:cs typeface="Arial" panose="020B0604020202020204" pitchFamily="34" charset="0"/>
              </a:rPr>
              <a:t>Boots</a:t>
            </a:r>
            <a:endParaRPr lang="en-US" sz="2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 12"/>
          <p:cNvSpPr/>
          <p:nvPr/>
        </p:nvSpPr>
        <p:spPr>
          <a:xfrm>
            <a:off x="9677995" y="4106228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Arial" panose="020B0604020202020204" pitchFamily="34" charset="0"/>
                <a:ea typeface="Open Sans" pitchFamily="34" charset="-122"/>
                <a:cs typeface="Arial" panose="020B0604020202020204" pitchFamily="34" charset="0"/>
              </a:rPr>
              <a:t>Solid rating at 3.82/5.0</a:t>
            </a:r>
            <a:endParaRPr lang="en-US" sz="1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Shape 13"/>
          <p:cNvSpPr/>
          <p:nvPr/>
        </p:nvSpPr>
        <p:spPr>
          <a:xfrm>
            <a:off x="793790" y="5036106"/>
            <a:ext cx="3473887" cy="283488"/>
          </a:xfrm>
          <a:prstGeom prst="roundRect">
            <a:avLst>
              <a:gd name="adj" fmla="val 12002"/>
            </a:avLst>
          </a:prstGeom>
          <a:solidFill>
            <a:srgbClr val="EAE8F3"/>
          </a:solidFill>
          <a:ln/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5036106"/>
            <a:ext cx="2640092" cy="28348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4437698" y="5036106"/>
            <a:ext cx="514707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Arial" panose="020B0604020202020204" pitchFamily="34" charset="0"/>
                <a:ea typeface="Libre Baskerville" pitchFamily="34" charset="-122"/>
                <a:cs typeface="Arial" panose="020B0604020202020204" pitchFamily="34" charset="0"/>
              </a:rPr>
              <a:t>76%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 15"/>
          <p:cNvSpPr/>
          <p:nvPr/>
        </p:nvSpPr>
        <p:spPr>
          <a:xfrm>
            <a:off x="793790" y="560296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9495A"/>
                </a:solidFill>
                <a:latin typeface="Arial" panose="020B0604020202020204" pitchFamily="34" charset="0"/>
                <a:ea typeface="Libre Baskerville" pitchFamily="34" charset="-122"/>
                <a:cs typeface="Arial" panose="020B0604020202020204" pitchFamily="34" charset="0"/>
              </a:rPr>
              <a:t>Hat</a:t>
            </a:r>
            <a:endParaRPr lang="en-US" sz="2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 16"/>
          <p:cNvSpPr/>
          <p:nvPr/>
        </p:nvSpPr>
        <p:spPr>
          <a:xfrm>
            <a:off x="793790" y="6093381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Arial" panose="020B0604020202020204" pitchFamily="34" charset="0"/>
                <a:ea typeface="Open Sans" pitchFamily="34" charset="-122"/>
                <a:cs typeface="Arial" panose="020B0604020202020204" pitchFamily="34" charset="0"/>
              </a:rPr>
              <a:t>Customer favorite at 3.80/5.0</a:t>
            </a:r>
            <a:endParaRPr lang="en-US" sz="1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Shape 17"/>
          <p:cNvSpPr/>
          <p:nvPr/>
        </p:nvSpPr>
        <p:spPr>
          <a:xfrm>
            <a:off x="5235893" y="5036106"/>
            <a:ext cx="3473887" cy="283488"/>
          </a:xfrm>
          <a:prstGeom prst="roundRect">
            <a:avLst>
              <a:gd name="adj" fmla="val 12002"/>
            </a:avLst>
          </a:prstGeom>
          <a:solidFill>
            <a:srgbClr val="EAE8F3"/>
          </a:solidFill>
          <a:ln/>
        </p:spPr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5893" y="5036106"/>
            <a:ext cx="2640092" cy="283488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8879800" y="5036106"/>
            <a:ext cx="514707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Arial" panose="020B0604020202020204" pitchFamily="34" charset="0"/>
                <a:ea typeface="Libre Baskerville" pitchFamily="34" charset="-122"/>
                <a:cs typeface="Arial" panose="020B0604020202020204" pitchFamily="34" charset="0"/>
              </a:rPr>
              <a:t>76%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 19"/>
          <p:cNvSpPr/>
          <p:nvPr/>
        </p:nvSpPr>
        <p:spPr>
          <a:xfrm>
            <a:off x="5235893" y="560296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9495A"/>
                </a:solidFill>
                <a:latin typeface="Arial" panose="020B0604020202020204" pitchFamily="34" charset="0"/>
                <a:ea typeface="Libre Baskerville" pitchFamily="34" charset="-122"/>
                <a:cs typeface="Arial" panose="020B0604020202020204" pitchFamily="34" charset="0"/>
              </a:rPr>
              <a:t>Skirt</a:t>
            </a:r>
            <a:endParaRPr lang="en-US" sz="2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Text 20"/>
          <p:cNvSpPr/>
          <p:nvPr/>
        </p:nvSpPr>
        <p:spPr>
          <a:xfrm>
            <a:off x="5235893" y="6093381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Arial" panose="020B0604020202020204" pitchFamily="34" charset="0"/>
                <a:ea typeface="Open Sans" pitchFamily="34" charset="-122"/>
                <a:cs typeface="Arial" panose="020B0604020202020204" pitchFamily="34" charset="0"/>
              </a:rPr>
              <a:t>Well-received at 3.78/5.0</a:t>
            </a:r>
            <a:endParaRPr lang="en-US" sz="1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25962"/>
            <a:ext cx="708040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403CCF"/>
                </a:solidFill>
                <a:latin typeface="Arial" panose="020B0604020202020204" pitchFamily="34" charset="0"/>
                <a:ea typeface="Libre Baskerville" pitchFamily="34" charset="-122"/>
                <a:cs typeface="Arial" panose="020B0604020202020204" pitchFamily="34" charset="0"/>
              </a:rPr>
              <a:t>Customer Segmentation</a:t>
            </a:r>
            <a:endParaRPr lang="en-US" sz="445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8348" y="2188369"/>
            <a:ext cx="2152055" cy="130694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894892" y="2804398"/>
            <a:ext cx="318968" cy="398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000"/>
              </a:lnSpc>
              <a:buNone/>
            </a:pPr>
            <a:r>
              <a:rPr lang="en-US" sz="2500" dirty="0">
                <a:solidFill>
                  <a:srgbClr val="49495A"/>
                </a:solidFill>
                <a:latin typeface="Arial" panose="020B0604020202020204" pitchFamily="34" charset="0"/>
                <a:ea typeface="Libre Baskerville" pitchFamily="34" charset="-122"/>
                <a:cs typeface="Arial" panose="020B0604020202020204" pitchFamily="34" charset="0"/>
              </a:rPr>
              <a:t>1</a:t>
            </a:r>
            <a:endParaRPr lang="en-US" sz="2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5357217" y="2415183"/>
            <a:ext cx="142886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Arial" panose="020B0604020202020204" pitchFamily="34" charset="0"/>
                <a:ea typeface="Libre Baskerville" pitchFamily="34" charset="-122"/>
                <a:cs typeface="Arial" panose="020B0604020202020204" pitchFamily="34" charset="0"/>
              </a:rPr>
              <a:t>New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5357217" y="2905601"/>
            <a:ext cx="142886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Arial" panose="020B0604020202020204" pitchFamily="34" charset="0"/>
                <a:ea typeface="Open Sans" pitchFamily="34" charset="-122"/>
                <a:cs typeface="Arial" panose="020B0604020202020204" pitchFamily="34" charset="0"/>
              </a:rPr>
              <a:t>83 customers</a:t>
            </a:r>
            <a:endParaRPr lang="en-US" sz="1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hape 4"/>
          <p:cNvSpPr/>
          <p:nvPr/>
        </p:nvSpPr>
        <p:spPr>
          <a:xfrm>
            <a:off x="5187077" y="3508415"/>
            <a:ext cx="8592860" cy="15240"/>
          </a:xfrm>
          <a:prstGeom prst="roundRect">
            <a:avLst>
              <a:gd name="adj" fmla="val 223256"/>
            </a:avLst>
          </a:prstGeom>
          <a:solidFill>
            <a:srgbClr val="D0CED9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2381" y="3551992"/>
            <a:ext cx="4304109" cy="130694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894892" y="4006096"/>
            <a:ext cx="318968" cy="398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000"/>
              </a:lnSpc>
              <a:buNone/>
            </a:pPr>
            <a:r>
              <a:rPr lang="en-US" sz="2500" dirty="0">
                <a:solidFill>
                  <a:srgbClr val="49495A"/>
                </a:solidFill>
                <a:latin typeface="Arial" panose="020B0604020202020204" pitchFamily="34" charset="0"/>
                <a:ea typeface="Libre Baskerville" pitchFamily="34" charset="-122"/>
                <a:cs typeface="Arial" panose="020B0604020202020204" pitchFamily="34" charset="0"/>
              </a:rPr>
              <a:t>2</a:t>
            </a:r>
            <a:endParaRPr lang="en-US" sz="2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6"/>
          <p:cNvSpPr/>
          <p:nvPr/>
        </p:nvSpPr>
        <p:spPr>
          <a:xfrm>
            <a:off x="6433304" y="3778806"/>
            <a:ext cx="155852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Arial" panose="020B0604020202020204" pitchFamily="34" charset="0"/>
                <a:ea typeface="Libre Baskerville" pitchFamily="34" charset="-122"/>
                <a:cs typeface="Arial" panose="020B0604020202020204" pitchFamily="34" charset="0"/>
              </a:rPr>
              <a:t>Returning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7"/>
          <p:cNvSpPr/>
          <p:nvPr/>
        </p:nvSpPr>
        <p:spPr>
          <a:xfrm>
            <a:off x="6433304" y="4269224"/>
            <a:ext cx="155852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Arial" panose="020B0604020202020204" pitchFamily="34" charset="0"/>
                <a:ea typeface="Open Sans" pitchFamily="34" charset="-122"/>
                <a:cs typeface="Arial" panose="020B0604020202020204" pitchFamily="34" charset="0"/>
              </a:rPr>
              <a:t>701 customers</a:t>
            </a:r>
            <a:endParaRPr lang="en-US" sz="1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hape 8"/>
          <p:cNvSpPr/>
          <p:nvPr/>
        </p:nvSpPr>
        <p:spPr>
          <a:xfrm>
            <a:off x="6263164" y="4872038"/>
            <a:ext cx="7516773" cy="15240"/>
          </a:xfrm>
          <a:prstGeom prst="roundRect">
            <a:avLst>
              <a:gd name="adj" fmla="val 223256"/>
            </a:avLst>
          </a:prstGeom>
          <a:solidFill>
            <a:srgbClr val="D0CED9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6294" y="4915614"/>
            <a:ext cx="6456164" cy="1306949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894773" y="5369719"/>
            <a:ext cx="318968" cy="398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000"/>
              </a:lnSpc>
              <a:buNone/>
            </a:pPr>
            <a:r>
              <a:rPr lang="en-US" sz="2500" dirty="0">
                <a:solidFill>
                  <a:srgbClr val="49495A"/>
                </a:solidFill>
                <a:latin typeface="Arial" panose="020B0604020202020204" pitchFamily="34" charset="0"/>
                <a:ea typeface="Libre Baskerville" pitchFamily="34" charset="-122"/>
                <a:cs typeface="Arial" panose="020B0604020202020204" pitchFamily="34" charset="0"/>
              </a:rPr>
              <a:t>3</a:t>
            </a:r>
            <a:endParaRPr lang="en-US" sz="2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 10"/>
          <p:cNvSpPr/>
          <p:nvPr/>
        </p:nvSpPr>
        <p:spPr>
          <a:xfrm>
            <a:off x="7509272" y="5142428"/>
            <a:ext cx="174676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Arial" panose="020B0604020202020204" pitchFamily="34" charset="0"/>
                <a:ea typeface="Libre Baskerville" pitchFamily="34" charset="-122"/>
                <a:cs typeface="Arial" panose="020B0604020202020204" pitchFamily="34" charset="0"/>
              </a:rPr>
              <a:t>Loyal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11"/>
          <p:cNvSpPr/>
          <p:nvPr/>
        </p:nvSpPr>
        <p:spPr>
          <a:xfrm>
            <a:off x="7509272" y="5632847"/>
            <a:ext cx="174676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Arial" panose="020B0604020202020204" pitchFamily="34" charset="0"/>
                <a:ea typeface="Open Sans" pitchFamily="34" charset="-122"/>
                <a:cs typeface="Arial" panose="020B0604020202020204" pitchFamily="34" charset="0"/>
              </a:rPr>
              <a:t>3,116 customers</a:t>
            </a:r>
            <a:endParaRPr lang="en-US" sz="1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 12"/>
          <p:cNvSpPr/>
          <p:nvPr/>
        </p:nvSpPr>
        <p:spPr>
          <a:xfrm>
            <a:off x="793790" y="6477714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Arial" panose="020B0604020202020204" pitchFamily="34" charset="0"/>
                <a:ea typeface="Open Sans" pitchFamily="34" charset="-122"/>
                <a:cs typeface="Arial" panose="020B0604020202020204" pitchFamily="34" charset="0"/>
              </a:rPr>
              <a:t>The majority are loyal customers, but </a:t>
            </a:r>
            <a:r>
              <a:rPr lang="en-US" sz="1750" b="1" dirty="0">
                <a:solidFill>
                  <a:srgbClr val="403CCF"/>
                </a:solidFill>
                <a:latin typeface="Arial" panose="020B0604020202020204" pitchFamily="34" charset="0"/>
                <a:ea typeface="Open Sans" pitchFamily="34" charset="-122"/>
                <a:cs typeface="Arial" panose="020B0604020202020204" pitchFamily="34" charset="0"/>
              </a:rPr>
              <a:t>958 repeat buyers</a:t>
            </a:r>
            <a:r>
              <a:rPr lang="en-US" sz="1750" dirty="0">
                <a:solidFill>
                  <a:srgbClr val="49495A"/>
                </a:solidFill>
                <a:latin typeface="Arial" panose="020B0604020202020204" pitchFamily="34" charset="0"/>
                <a:ea typeface="Open Sans" pitchFamily="34" charset="-122"/>
                <a:cs typeface="Arial" panose="020B0604020202020204" pitchFamily="34" charset="0"/>
              </a:rPr>
              <a:t> (&gt;5 purchases) remain unsubscribed — a key conversion opportunity.</a:t>
            </a:r>
            <a:endParaRPr lang="en-US" sz="1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6138" y="421243"/>
            <a:ext cx="5721429" cy="478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750"/>
              </a:lnSpc>
              <a:buNone/>
            </a:pPr>
            <a:r>
              <a:rPr lang="en-US" sz="3000" dirty="0">
                <a:solidFill>
                  <a:srgbClr val="403CCF"/>
                </a:solidFill>
                <a:latin typeface="Arial" panose="020B0604020202020204" pitchFamily="34" charset="0"/>
                <a:ea typeface="Libre Baskerville" pitchFamily="34" charset="-122"/>
                <a:cs typeface="Arial" panose="020B0604020202020204" pitchFamily="34" charset="0"/>
              </a:rPr>
              <a:t>Category &amp; Age Performance</a:t>
            </a:r>
            <a:endParaRPr lang="en-US" sz="3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141" y="1091542"/>
            <a:ext cx="11270851" cy="631163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72342" y="7472149"/>
            <a:ext cx="13885715" cy="6130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600" dirty="0">
                <a:solidFill>
                  <a:srgbClr val="49495A"/>
                </a:solidFill>
                <a:latin typeface="Arial" panose="020B0604020202020204" pitchFamily="34" charset="0"/>
                <a:ea typeface="Open Sans" pitchFamily="34" charset="-122"/>
                <a:cs typeface="Arial" panose="020B0604020202020204" pitchFamily="34" charset="0"/>
              </a:rPr>
              <a:t>Young Adults drive the highest revenue. Top products per category: Jewelry and Blouse (Accessories/Clothing), Sandals (Footwear), and Jacket (Outerwear).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23142"/>
            <a:ext cx="819852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403CCF"/>
                </a:solidFill>
                <a:latin typeface="Arial" panose="020B0604020202020204" pitchFamily="34" charset="0"/>
                <a:ea typeface="Libre Baskerville" pitchFamily="34" charset="-122"/>
                <a:cs typeface="Arial" panose="020B0604020202020204" pitchFamily="34" charset="0"/>
              </a:rPr>
              <a:t>Strategic Recommendations</a:t>
            </a:r>
            <a:endParaRPr lang="en-US" sz="44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2485549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9495A"/>
                </a:solidFill>
                <a:latin typeface="Arial" panose="020B0604020202020204" pitchFamily="34" charset="0"/>
                <a:ea typeface="Libre Baskerville Light" pitchFamily="34" charset="-122"/>
                <a:cs typeface="Arial" panose="020B0604020202020204" pitchFamily="34" charset="0"/>
              </a:rPr>
              <a:t>01</a:t>
            </a:r>
            <a:endParaRPr lang="en-US" sz="175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840593"/>
            <a:ext cx="4196358" cy="30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93790" y="3014901"/>
            <a:ext cx="288083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9495A"/>
                </a:solidFill>
                <a:latin typeface="Arial" panose="020B0604020202020204" pitchFamily="34" charset="0"/>
                <a:ea typeface="Libre Baskerville" pitchFamily="34" charset="-122"/>
                <a:cs typeface="Arial" panose="020B0604020202020204" pitchFamily="34" charset="0"/>
              </a:rPr>
              <a:t>Boost Subscriptions</a:t>
            </a:r>
            <a:endParaRPr lang="en-US" sz="2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793790" y="3505319"/>
            <a:ext cx="4196358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latin typeface="Arial" panose="020B0604020202020204" pitchFamily="34" charset="0"/>
                <a:ea typeface="Open Sans" pitchFamily="34" charset="-122"/>
                <a:cs typeface="Arial" panose="020B0604020202020204" pitchFamily="34" charset="0"/>
              </a:rPr>
              <a:t>Promote exclusive benefits targeting the 958 repeat buyers without subscriptions.</a:t>
            </a:r>
            <a:endParaRPr lang="en-US" sz="1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5216962" y="2485549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9495A"/>
                </a:solidFill>
                <a:latin typeface="Arial" panose="020B0604020202020204" pitchFamily="34" charset="0"/>
                <a:ea typeface="Libre Baskerville Light" pitchFamily="34" charset="-122"/>
                <a:cs typeface="Arial" panose="020B0604020202020204" pitchFamily="34" charset="0"/>
              </a:rPr>
              <a:t>02</a:t>
            </a:r>
            <a:endParaRPr lang="en-US" sz="175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6962" y="2840593"/>
            <a:ext cx="4196358" cy="304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216962" y="301490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9495A"/>
                </a:solidFill>
                <a:latin typeface="Arial" panose="020B0604020202020204" pitchFamily="34" charset="0"/>
                <a:ea typeface="Libre Baskerville" pitchFamily="34" charset="-122"/>
                <a:cs typeface="Arial" panose="020B0604020202020204" pitchFamily="34" charset="0"/>
              </a:rPr>
              <a:t>Loyalty Programs</a:t>
            </a:r>
            <a:endParaRPr lang="en-US" sz="2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6"/>
          <p:cNvSpPr/>
          <p:nvPr/>
        </p:nvSpPr>
        <p:spPr>
          <a:xfrm>
            <a:off x="5216962" y="3505319"/>
            <a:ext cx="4196358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latin typeface="Arial" panose="020B0604020202020204" pitchFamily="34" charset="0"/>
                <a:ea typeface="Open Sans" pitchFamily="34" charset="-122"/>
                <a:cs typeface="Arial" panose="020B0604020202020204" pitchFamily="34" charset="0"/>
              </a:rPr>
              <a:t>Reward returning customers to accelerate their journey into the loyal segment.</a:t>
            </a:r>
            <a:endParaRPr lang="en-US" sz="1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7"/>
          <p:cNvSpPr/>
          <p:nvPr/>
        </p:nvSpPr>
        <p:spPr>
          <a:xfrm>
            <a:off x="9640133" y="2485549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9495A"/>
                </a:solidFill>
                <a:latin typeface="Arial" panose="020B0604020202020204" pitchFamily="34" charset="0"/>
                <a:ea typeface="Libre Baskerville Light" pitchFamily="34" charset="-122"/>
                <a:cs typeface="Arial" panose="020B0604020202020204" pitchFamily="34" charset="0"/>
              </a:rPr>
              <a:t>03</a:t>
            </a:r>
            <a:endParaRPr lang="en-US" sz="175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0133" y="2840593"/>
            <a:ext cx="4196358" cy="3048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640133" y="3014901"/>
            <a:ext cx="290036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9495A"/>
                </a:solidFill>
                <a:latin typeface="Arial" panose="020B0604020202020204" pitchFamily="34" charset="0"/>
                <a:ea typeface="Libre Baskerville" pitchFamily="34" charset="-122"/>
                <a:cs typeface="Arial" panose="020B0604020202020204" pitchFamily="34" charset="0"/>
              </a:rPr>
              <a:t>Optimize Discounts</a:t>
            </a:r>
            <a:endParaRPr lang="en-US" sz="2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9"/>
          <p:cNvSpPr/>
          <p:nvPr/>
        </p:nvSpPr>
        <p:spPr>
          <a:xfrm>
            <a:off x="9640133" y="3505319"/>
            <a:ext cx="4196358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latin typeface="Arial" panose="020B0604020202020204" pitchFamily="34" charset="0"/>
                <a:ea typeface="Open Sans" pitchFamily="34" charset="-122"/>
                <a:cs typeface="Arial" panose="020B0604020202020204" pitchFamily="34" charset="0"/>
              </a:rPr>
              <a:t>Balance promotional sales with margin control, especially for discount-dependent products.</a:t>
            </a:r>
            <a:endParaRPr lang="en-US" sz="1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 10"/>
          <p:cNvSpPr/>
          <p:nvPr/>
        </p:nvSpPr>
        <p:spPr>
          <a:xfrm>
            <a:off x="793790" y="4990862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9495A"/>
                </a:solidFill>
                <a:latin typeface="Arial" panose="020B0604020202020204" pitchFamily="34" charset="0"/>
                <a:ea typeface="Libre Baskerville Light" pitchFamily="34" charset="-122"/>
                <a:cs typeface="Arial" panose="020B0604020202020204" pitchFamily="34" charset="0"/>
              </a:rPr>
              <a:t>04</a:t>
            </a:r>
            <a:endParaRPr lang="en-US" sz="175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5323165"/>
            <a:ext cx="6407944" cy="3048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93790" y="5520214"/>
            <a:ext cx="287631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9495A"/>
                </a:solidFill>
                <a:latin typeface="Arial" panose="020B0604020202020204" pitchFamily="34" charset="0"/>
                <a:ea typeface="Libre Baskerville" pitchFamily="34" charset="-122"/>
                <a:cs typeface="Arial" panose="020B0604020202020204" pitchFamily="34" charset="0"/>
              </a:rPr>
              <a:t>Product Positioning</a:t>
            </a:r>
            <a:endParaRPr lang="en-US" sz="2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 12"/>
          <p:cNvSpPr/>
          <p:nvPr/>
        </p:nvSpPr>
        <p:spPr>
          <a:xfrm>
            <a:off x="793790" y="6010632"/>
            <a:ext cx="640794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latin typeface="Arial" panose="020B0604020202020204" pitchFamily="34" charset="0"/>
                <a:ea typeface="Open Sans" pitchFamily="34" charset="-122"/>
                <a:cs typeface="Arial" panose="020B0604020202020204" pitchFamily="34" charset="0"/>
              </a:rPr>
              <a:t>Highlight top-rated items like Gloves and Sandals in marketing campaigns.</a:t>
            </a:r>
            <a:endParaRPr lang="en-US" sz="1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 13"/>
          <p:cNvSpPr/>
          <p:nvPr/>
        </p:nvSpPr>
        <p:spPr>
          <a:xfrm>
            <a:off x="7428548" y="4990862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9495A"/>
                </a:solidFill>
                <a:latin typeface="Arial" panose="020B0604020202020204" pitchFamily="34" charset="0"/>
                <a:ea typeface="Libre Baskerville Light" pitchFamily="34" charset="-122"/>
                <a:cs typeface="Arial" panose="020B0604020202020204" pitchFamily="34" charset="0"/>
              </a:rPr>
              <a:t>05</a:t>
            </a:r>
            <a:endParaRPr lang="en-US" sz="175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8548" y="5323165"/>
            <a:ext cx="6407944" cy="3048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428548" y="5520214"/>
            <a:ext cx="285928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9495A"/>
                </a:solidFill>
                <a:latin typeface="Arial" panose="020B0604020202020204" pitchFamily="34" charset="0"/>
                <a:ea typeface="Libre Baskerville" pitchFamily="34" charset="-122"/>
                <a:cs typeface="Arial" panose="020B0604020202020204" pitchFamily="34" charset="0"/>
              </a:rPr>
              <a:t>Targeted</a:t>
            </a:r>
            <a:r>
              <a:rPr lang="en-US" sz="2200" dirty="0">
                <a:solidFill>
                  <a:srgbClr val="49495A"/>
                </a:solidFill>
                <a:latin typeface="Arial" panose="020B0604020202020204" pitchFamily="34" charset="0"/>
                <a:ea typeface="Libre Baskerville" pitchFamily="34" charset="-122"/>
                <a:cs typeface="Arial" panose="020B0604020202020204" pitchFamily="34" charset="0"/>
              </a:rPr>
              <a:t> </a:t>
            </a:r>
            <a:r>
              <a:rPr lang="en-US" sz="2200" b="1" dirty="0">
                <a:solidFill>
                  <a:srgbClr val="49495A"/>
                </a:solidFill>
                <a:latin typeface="Arial" panose="020B0604020202020204" pitchFamily="34" charset="0"/>
                <a:ea typeface="Libre Baskerville" pitchFamily="34" charset="-122"/>
                <a:cs typeface="Arial" panose="020B0604020202020204" pitchFamily="34" charset="0"/>
              </a:rPr>
              <a:t>Marketing</a:t>
            </a:r>
            <a:endParaRPr lang="en-US" sz="2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 15"/>
          <p:cNvSpPr/>
          <p:nvPr/>
        </p:nvSpPr>
        <p:spPr>
          <a:xfrm>
            <a:off x="7428548" y="6010632"/>
            <a:ext cx="640794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latin typeface="Arial" panose="020B0604020202020204" pitchFamily="34" charset="0"/>
                <a:ea typeface="Open Sans" pitchFamily="34" charset="-122"/>
                <a:cs typeface="Arial" panose="020B0604020202020204" pitchFamily="34" charset="0"/>
              </a:rPr>
              <a:t>Focus on Young Adults and express-shipping users for maximum revenue impact.</a:t>
            </a:r>
            <a:endParaRPr lang="en-US" sz="1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A707654-A60A-4131-BE7E-AC8673872F9D}"/>
              </a:ext>
            </a:extLst>
          </p:cNvPr>
          <p:cNvSpPr/>
          <p:nvPr/>
        </p:nvSpPr>
        <p:spPr>
          <a:xfrm>
            <a:off x="723007" y="2857337"/>
            <a:ext cx="3794891" cy="742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228C3E1-8135-4377-8698-8F744A4EAA64}"/>
              </a:ext>
            </a:extLst>
          </p:cNvPr>
          <p:cNvSpPr/>
          <p:nvPr/>
        </p:nvSpPr>
        <p:spPr>
          <a:xfrm>
            <a:off x="4960346" y="2867085"/>
            <a:ext cx="4010526" cy="645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B7B6CE9-75AD-42A7-89DB-3C90E5BE1FC0}"/>
              </a:ext>
            </a:extLst>
          </p:cNvPr>
          <p:cNvSpPr/>
          <p:nvPr/>
        </p:nvSpPr>
        <p:spPr>
          <a:xfrm>
            <a:off x="723006" y="5384127"/>
            <a:ext cx="5934467" cy="528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E368A34-975D-4427-B810-999AD9108AF9}"/>
              </a:ext>
            </a:extLst>
          </p:cNvPr>
          <p:cNvSpPr/>
          <p:nvPr/>
        </p:nvSpPr>
        <p:spPr>
          <a:xfrm>
            <a:off x="7428548" y="5391210"/>
            <a:ext cx="5934467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1F7507A-B813-4745-B5B2-0FD5BCBD965C}"/>
              </a:ext>
            </a:extLst>
          </p:cNvPr>
          <p:cNvSpPr/>
          <p:nvPr/>
        </p:nvSpPr>
        <p:spPr>
          <a:xfrm>
            <a:off x="9413320" y="2906435"/>
            <a:ext cx="4010526" cy="645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</TotalTime>
  <Words>455</Words>
  <Application>Microsoft Office PowerPoint</Application>
  <PresentationFormat>Custom</PresentationFormat>
  <Paragraphs>103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PC</dc:creator>
  <cp:lastModifiedBy>Nishant Goyal</cp:lastModifiedBy>
  <cp:revision>3</cp:revision>
  <dcterms:created xsi:type="dcterms:W3CDTF">2025-12-06T13:33:04Z</dcterms:created>
  <dcterms:modified xsi:type="dcterms:W3CDTF">2025-12-06T13:48:00Z</dcterms:modified>
</cp:coreProperties>
</file>